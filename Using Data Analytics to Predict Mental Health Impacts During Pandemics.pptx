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306" r:id="rId4"/>
    <p:sldId id="307" r:id="rId5"/>
    <p:sldId id="300" r:id="rId6"/>
    <p:sldId id="308" r:id="rId7"/>
    <p:sldId id="260" r:id="rId8"/>
    <p:sldId id="309" r:id="rId9"/>
    <p:sldId id="301" r:id="rId10"/>
    <p:sldId id="259" r:id="rId11"/>
    <p:sldId id="302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20" r:id="rId21"/>
    <p:sldId id="321" r:id="rId22"/>
    <p:sldId id="318" r:id="rId23"/>
    <p:sldId id="319" r:id="rId24"/>
    <p:sldId id="322" r:id="rId25"/>
    <p:sldId id="323" r:id="rId26"/>
    <p:sldId id="324" r:id="rId27"/>
    <p:sldId id="299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96"/>
  </p:normalViewPr>
  <p:slideViewPr>
    <p:cSldViewPr snapToGrid="0" snapToObjects="1">
      <p:cViewPr varScale="1">
        <p:scale>
          <a:sx n="87" d="100"/>
          <a:sy n="87" d="100"/>
        </p:scale>
        <p:origin x="91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41FC72D-34C2-B744-8C58-B617744550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1496" y="3159399"/>
            <a:ext cx="3890392" cy="21883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637C27-017B-8544-8667-06A4A9BA7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6281" y="193431"/>
            <a:ext cx="8791575" cy="3158269"/>
          </a:xfrm>
        </p:spPr>
        <p:txBody>
          <a:bodyPr>
            <a:normAutofit/>
          </a:bodyPr>
          <a:lstStyle/>
          <a:p>
            <a:r>
              <a:rPr lang="en-US" sz="5300" dirty="0"/>
              <a:t>Using Data Analytics to Predict Mental Health Impacts During Pandemics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0972F4-53B2-C341-B153-04D89A82B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1124" y="5443845"/>
            <a:ext cx="3222791" cy="1088839"/>
          </a:xfrm>
        </p:spPr>
        <p:txBody>
          <a:bodyPr>
            <a:normAutofit fontScale="85000" lnSpcReduction="10000"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By </a:t>
            </a:r>
            <a:r>
              <a:rPr lang="en-US" sz="2400" b="1" dirty="0" err="1">
                <a:solidFill>
                  <a:schemeClr val="tx1"/>
                </a:solidFill>
              </a:rPr>
              <a:t>Sudheer_kumar_suda</a:t>
            </a:r>
            <a:br>
              <a:rPr lang="en-US" sz="5400" b="1" dirty="0"/>
            </a:br>
            <a:r>
              <a:rPr lang="en-US" sz="2400" b="1" dirty="0">
                <a:solidFill>
                  <a:schemeClr val="tx1"/>
                </a:solidFill>
              </a:rPr>
              <a:t>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628935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52757-7A77-EE40-8122-0225BA848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  <a:endParaRPr lang="en-US" b="1" i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08C07E-4275-2841-8589-5FE5100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The project focuses on analyzing mental health impacts during COVID-19.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It aims to understand patterns of anxiety and depression, develop predictive models, and support mental resilience during future crises.</a:t>
            </a:r>
          </a:p>
        </p:txBody>
      </p:sp>
    </p:spTree>
    <p:extLst>
      <p:ext uri="{BB962C8B-B14F-4D97-AF65-F5344CB8AC3E}">
        <p14:creationId xmlns:p14="http://schemas.microsoft.com/office/powerpoint/2010/main" val="3435480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EE4733B-48ED-46A6-8316-653D7D1E9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E55B9F23-91ED-66DB-D658-6A05EFCBF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2313082"/>
            <a:ext cx="950753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COVID-19 created unprecedented mental health challenges.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There’s a need to identify root causes and develop tools for mitigating future mental health crises. </a:t>
            </a:r>
          </a:p>
        </p:txBody>
      </p:sp>
    </p:spTree>
    <p:extLst>
      <p:ext uri="{BB962C8B-B14F-4D97-AF65-F5344CB8AC3E}">
        <p14:creationId xmlns:p14="http://schemas.microsoft.com/office/powerpoint/2010/main" val="2412087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14B2B-617A-93E5-FB07-C73EF9745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45EA91-46CC-2621-F1F1-E3BF4E3841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4350" y="2086913"/>
            <a:ext cx="1159192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Analyze mental health patterns during COVID-19.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Identify key demographic and environmental factors affecting mental health.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Predict future trends to assist in planning interventions.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Inform policy decisions with data-driven insights. </a:t>
            </a:r>
          </a:p>
        </p:txBody>
      </p:sp>
    </p:spTree>
    <p:extLst>
      <p:ext uri="{BB962C8B-B14F-4D97-AF65-F5344CB8AC3E}">
        <p14:creationId xmlns:p14="http://schemas.microsoft.com/office/powerpoint/2010/main" val="1309541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78F43-63EB-914B-987D-2480F21E2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kern="0" dirty="0">
                <a:effectLst/>
                <a:ea typeface="Times New Roman" panose="02020603050405020304" pitchFamily="18" charset="0"/>
              </a:rPr>
              <a:t>METHODOLOGY</a:t>
            </a:r>
            <a:b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5A561-0636-0C4E-97FB-E60A8E860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58143"/>
            <a:ext cx="9905999" cy="3541714"/>
          </a:xfrm>
        </p:spPr>
        <p:txBody>
          <a:bodyPr>
            <a:normAutofit/>
          </a:bodyPr>
          <a:lstStyle/>
          <a:p>
            <a:pPr lvl="3"/>
            <a:endParaRPr lang="en-US" dirty="0"/>
          </a:p>
          <a:p>
            <a:r>
              <a:rPr lang="en-IN" dirty="0"/>
              <a:t>Data Source: HealthData.gov, U.S. Census Bureau</a:t>
            </a:r>
          </a:p>
          <a:p>
            <a:pPr marL="0" indent="0">
              <a:buNone/>
            </a:pPr>
            <a:r>
              <a:rPr lang="en-IN" b="1" dirty="0"/>
              <a:t>Tools Used</a:t>
            </a:r>
          </a:p>
          <a:p>
            <a:r>
              <a:rPr lang="en-IN" dirty="0"/>
              <a:t>Data Cleaning &amp; Preparation: Python, Excel</a:t>
            </a:r>
          </a:p>
          <a:p>
            <a:r>
              <a:rPr lang="en-IN" dirty="0"/>
              <a:t>Modelling: R Studio, Python (Machine Learning, Time Series)</a:t>
            </a:r>
          </a:p>
          <a:p>
            <a:r>
              <a:rPr lang="en-IN" dirty="0"/>
              <a:t>Key Variables: Anxiety, Depression, Demographics, Region,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100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A97B-DCE3-0F6D-3E86-4C8E83214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Collection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1F154E-CF41-6F22-10FD-42127E6A7F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3450" y="1962339"/>
            <a:ext cx="8715375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Source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Household Pulse Survey from HealthData.gov.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Timeframe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2020-2024.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Dataset Size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16,561 rows and 14 variables.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Key Variables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Indicators (Anxiety/Depression).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Demographics (Age, Gender, Race, State).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Temporal data (Time Period, Phase).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253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633A1-E28C-C841-B577-212660AC7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Preparation</a:t>
            </a:r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D054705-6597-BB9C-74E5-93315A4EA6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1760886"/>
            <a:ext cx="924035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Cleaning Steps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Removed unnecessary columns (e.g., Confidence Intervals).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Handled missing values by dropping rows with null entries.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Feature Engineering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Created new columns: Age, Gender, Region, Year, and Season.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Introduced binary indicators for anxiety and depression.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44997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47420-4430-0761-326D-C6C2B688F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419100"/>
            <a:ext cx="4429125" cy="1609726"/>
          </a:xfrm>
        </p:spPr>
        <p:txBody>
          <a:bodyPr>
            <a:normAutofit/>
          </a:bodyPr>
          <a:lstStyle/>
          <a:p>
            <a:r>
              <a:rPr lang="en-US" b="1" dirty="0">
                <a:effectLst/>
                <a:ea typeface="Times New Roman" panose="02020603050405020304" pitchFamily="18" charset="0"/>
              </a:rPr>
              <a:t>Outlier Detection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7088BC-16F6-130D-E1ED-F950DADC6E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6750" y="2156472"/>
            <a:ext cx="616775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Outliers are data points significantly different from the rest, potentially impacting analysis and modeling.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Box plots and statistical methods can identify outliers, which are common in numerical and date variables.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Careful consideration is needed before removing outliers, as they might contain valuable information. </a:t>
            </a:r>
          </a:p>
        </p:txBody>
      </p:sp>
      <p:pic>
        <p:nvPicPr>
          <p:cNvPr id="5" name="Picture 4" descr="A graph with different colored squares and lines&#10;&#10;Description automatically generated with medium confidence">
            <a:extLst>
              <a:ext uri="{FF2B5EF4-FFF2-40B4-BE49-F238E27FC236}">
                <a16:creationId xmlns:a16="http://schemas.microsoft.com/office/drawing/2014/main" id="{ED9C21E7-C098-4115-3D73-9306A73C9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4505" y="1961649"/>
            <a:ext cx="5057140" cy="3843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319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2D03B-9932-CF44-A0BB-F235E833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Analysis Techniques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33DE1-AC97-5546-A8D9-E7FC80F2D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Research Questions &amp; Models:</a:t>
            </a:r>
          </a:p>
          <a:p>
            <a:pPr marL="0" indent="0">
              <a:buNone/>
            </a:pPr>
            <a:r>
              <a:rPr lang="en-US" dirty="0"/>
              <a:t>1. Strongest Factors for Anxiety/Depression: Random Forest, Decision Tree</a:t>
            </a:r>
          </a:p>
          <a:p>
            <a:pPr marL="0" indent="0">
              <a:buNone/>
            </a:pPr>
            <a:r>
              <a:rPr lang="en-US" dirty="0"/>
              <a:t>2. Season &amp; Region Analysis: Random Forest, Decision Tree</a:t>
            </a:r>
          </a:p>
          <a:p>
            <a:pPr marL="0" indent="0">
              <a:buNone/>
            </a:pPr>
            <a:r>
              <a:rPr lang="en-US" dirty="0"/>
              <a:t>3. Future Trends Forecasting: LSTM Neural Networks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656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07A06-FA1E-5F47-BB78-412787D32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969" y="-171084"/>
            <a:ext cx="4533900" cy="2097088"/>
          </a:xfrm>
        </p:spPr>
        <p:txBody>
          <a:bodyPr>
            <a:normAutofit/>
          </a:bodyPr>
          <a:lstStyle/>
          <a:p>
            <a:r>
              <a:rPr lang="en-US" b="1" dirty="0">
                <a:effectLst/>
                <a:ea typeface="Times New Roman" panose="02020603050405020304" pitchFamily="18" charset="0"/>
              </a:rPr>
              <a:t>Exploratory Data Analysis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79AE0A7-91B8-1E17-2F30-97AC66C15B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5825" y="1271559"/>
            <a:ext cx="365760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Exploratory Data Analysis (EDA) helps to understand and examine dataset characteristics.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Correlation analysis reveals relationships between variables, including numerical (Pearson correlation) and categorical (Chi-Square test).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Strong correlations were found between certain variables, such as 'Phase' and 'Time Period', and 'By Age' and 'By State'. 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5C455D7D-FB47-572E-125F-3EFF56849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495299"/>
            <a:ext cx="4752975" cy="23445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5488EB-9968-8EB3-FA39-6C1DA78BF1DB}"/>
              </a:ext>
            </a:extLst>
          </p:cNvPr>
          <p:cNvSpPr txBox="1"/>
          <p:nvPr/>
        </p:nvSpPr>
        <p:spPr>
          <a:xfrm>
            <a:off x="6095999" y="2899410"/>
            <a:ext cx="4533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 dirty="0">
                <a:effectLst/>
                <a:ea typeface="Times New Roman" panose="02020603050405020304" pitchFamily="18" charset="0"/>
              </a:rPr>
              <a:t> Correlation plot between numerical variables</a:t>
            </a:r>
            <a:endParaRPr lang="en-IN" dirty="0"/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4EFF644F-B249-DAA8-522C-A0DED8EBC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3419998"/>
            <a:ext cx="4086225" cy="27889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DEE5D3-67C3-F229-790C-3AA788C71B96}"/>
              </a:ext>
            </a:extLst>
          </p:cNvPr>
          <p:cNvSpPr txBox="1"/>
          <p:nvPr/>
        </p:nvSpPr>
        <p:spPr>
          <a:xfrm>
            <a:off x="6095999" y="6208918"/>
            <a:ext cx="6105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 dirty="0">
                <a:effectLst/>
                <a:ea typeface="Times New Roman" panose="02020603050405020304" pitchFamily="18" charset="0"/>
              </a:rPr>
              <a:t>Correlation between categorical variables using Chi-Square test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2249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288F4-AD44-CA43-A965-1B5A480E5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  <a:ea typeface="Times New Roman" panose="02020603050405020304" pitchFamily="18" charset="0"/>
              </a:rPr>
              <a:t>Data  Visualization   </a:t>
            </a:r>
            <a:b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6FD2769-BB9C-4FB7-D763-63C2DC233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6" y="1902679"/>
            <a:ext cx="497205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/>
            <a:endParaRPr lang="en-IN" i="1" dirty="0">
              <a:ea typeface="Times New Roman" panose="02020603050405020304" pitchFamily="18" charset="0"/>
            </a:endParaRPr>
          </a:p>
          <a:p>
            <a:pPr marL="0" marR="0"/>
            <a:r>
              <a:rPr lang="en-US" sz="1800" dirty="0">
                <a:effectLst/>
                <a:ea typeface="Times New Roman" panose="02020603050405020304" pitchFamily="18" charset="0"/>
              </a:rPr>
              <a:t>In which age range are anxiety and depression disorders most common?</a:t>
            </a:r>
            <a:endParaRPr lang="en-IN" sz="1800" dirty="0"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Bar chart analysis reveals that the 18-29 age group is most susceptible to anxiety and depression disorders in the US.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Younger individuals, especially those aged 18-29, are more likely to experience mental health issues.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8CD96B-6FCB-7458-0C4F-ECFA17B3F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815" y="1778000"/>
            <a:ext cx="6114884" cy="3460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134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1C22E-9887-9727-7B80-4D85E74B9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563" y="801687"/>
            <a:ext cx="5164138" cy="35417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kern="0" dirty="0">
                <a:effectLst/>
                <a:ea typeface="Times New Roman" panose="02020603050405020304" pitchFamily="18" charset="0"/>
              </a:rPr>
              <a:t>How does the pandemic’s pattern of anxiety and depression disorders evolve over time?</a:t>
            </a:r>
          </a:p>
          <a:p>
            <a:endParaRPr lang="en-US" sz="2000" kern="0" dirty="0">
              <a:effectLst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kern="0" dirty="0"/>
              <a:t>Line chart analysis shows a significant increase in anxiety and depression disorders during the pandemic peak.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kern="0" dirty="0"/>
              <a:t>Both disorders have declined since the peak, with anxiety disorder symptoms being more prevalent.</a:t>
            </a:r>
          </a:p>
          <a:p>
            <a:endParaRPr lang="en-IN" sz="2000" dirty="0"/>
          </a:p>
        </p:txBody>
      </p:sp>
      <p:pic>
        <p:nvPicPr>
          <p:cNvPr id="5" name="Picture 4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778F9C27-AED1-FDA9-2FDE-79B35063B4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25917"/>
            <a:ext cx="5781675" cy="36061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3541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675CF-5274-457C-DBAB-41DD6EA6D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487" y="589916"/>
            <a:ext cx="7840663" cy="2998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effectLst/>
                <a:ea typeface="Times New Roman" panose="02020603050405020304" pitchFamily="18" charset="0"/>
              </a:rPr>
              <a:t>Do any states or areas have greater than average prevalence of these disorders? </a:t>
            </a:r>
            <a:endParaRPr lang="en-IN" sz="2000" dirty="0">
              <a:effectLst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 23 US states have anxiety and depression disorder prevalence equal to or greater than the national average of 28.62%.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 Louisiana, Mississippi, and Nevada have the highest prevalence rates.</a:t>
            </a:r>
            <a:endParaRPr lang="en-IN" sz="2000" dirty="0"/>
          </a:p>
        </p:txBody>
      </p:sp>
      <p:pic>
        <p:nvPicPr>
          <p:cNvPr id="5" name="Picture 4" descr="A graph of a graph with different colors&#10;&#10;Description automatically generated with medium confidence">
            <a:extLst>
              <a:ext uri="{FF2B5EF4-FFF2-40B4-BE49-F238E27FC236}">
                <a16:creationId xmlns:a16="http://schemas.microsoft.com/office/drawing/2014/main" id="{27A26812-AE28-EE6F-854F-BCF809829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428999"/>
            <a:ext cx="5924550" cy="3029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2115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3935-758B-2BEB-BCA2-8939549AA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467" y="221945"/>
            <a:ext cx="9905998" cy="96288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/>
                <a:ea typeface="Times New Roman" panose="02020603050405020304" pitchFamily="18" charset="0"/>
              </a:rPr>
              <a:t>Analysis Techniques </a:t>
            </a:r>
            <a:b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C8F690-BD14-B698-D5C5-F7084ACC7A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9905" y="599707"/>
            <a:ext cx="11359518" cy="578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preparation and exploratory analysis helped us understand dataset characteristics and identify patterns through visualizations.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Machine Learning models were chosen based on research goals, as each model has unique strengths and applications.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 our study:</a:t>
            </a:r>
          </a:p>
          <a:p>
            <a:pPr marR="0" lvl="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effectLst/>
                <a:ea typeface="Times New Roman" panose="02020603050405020304" pitchFamily="18" charset="0"/>
              </a:rPr>
              <a:t> Predicting the strongest factors among age, disability, gender, and race for developing anxiety and depressive disorders during different stages of the COVID-19 pandemic?</a:t>
            </a:r>
            <a:endParaRPr lang="en-IN" sz="2000" dirty="0">
              <a:effectLst/>
              <a:ea typeface="Times New Roman" panose="02020603050405020304" pitchFamily="18" charset="0"/>
            </a:endParaRPr>
          </a:p>
          <a:p>
            <a:pPr marL="457200" marR="0" algn="just">
              <a:lnSpc>
                <a:spcPct val="100000"/>
              </a:lnSpc>
            </a:pPr>
            <a:r>
              <a:rPr lang="en-US" sz="2000" dirty="0">
                <a:effectLst/>
                <a:ea typeface="Times New Roman" panose="02020603050405020304" pitchFamily="18" charset="0"/>
              </a:rPr>
              <a:t>Analysis Techniques: Random Forest, Decision Tree.</a:t>
            </a:r>
            <a:endParaRPr lang="en-IN" sz="2000" dirty="0">
              <a:effectLst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effectLst/>
                <a:ea typeface="Times New Roman" panose="02020603050405020304" pitchFamily="18" charset="0"/>
              </a:rPr>
              <a:t>Predicting the likelihood of anxiety and depressive disorder based on the factors such as season and region.</a:t>
            </a:r>
            <a:endParaRPr lang="en-IN" sz="2000" dirty="0">
              <a:effectLst/>
              <a:ea typeface="Times New Roman" panose="02020603050405020304" pitchFamily="18" charset="0"/>
            </a:endParaRPr>
          </a:p>
          <a:p>
            <a:pPr marL="457200" marR="0" algn="just">
              <a:lnSpc>
                <a:spcPct val="100000"/>
              </a:lnSpc>
            </a:pPr>
            <a:r>
              <a:rPr lang="en-US" sz="2000" dirty="0">
                <a:effectLst/>
                <a:ea typeface="Times New Roman" panose="02020603050405020304" pitchFamily="18" charset="0"/>
              </a:rPr>
              <a:t>Analysis Techniques: Random Forest, Decision Tree</a:t>
            </a:r>
            <a:endParaRPr lang="en-IN" sz="2000" dirty="0">
              <a:effectLst/>
              <a:ea typeface="Times New Roman" panose="02020603050405020304" pitchFamily="18" charset="0"/>
            </a:endParaRPr>
          </a:p>
          <a:p>
            <a:pPr marR="0" lvl="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effectLst/>
                <a:ea typeface="Times New Roman" panose="02020603050405020304" pitchFamily="18" charset="0"/>
              </a:rPr>
              <a:t>Predicting the future trends of anxiety and depression disorder among people who are over the age of 50 years in the United States using time-series forecasting model.</a:t>
            </a:r>
            <a:endParaRPr lang="en-IN" sz="2000" dirty="0">
              <a:effectLst/>
              <a:ea typeface="Times New Roman" panose="02020603050405020304" pitchFamily="18" charset="0"/>
            </a:endParaRPr>
          </a:p>
          <a:p>
            <a:pPr marL="457200" marR="0" algn="just">
              <a:lnSpc>
                <a:spcPct val="100000"/>
              </a:lnSpc>
            </a:pPr>
            <a:r>
              <a:rPr lang="en-US" sz="2000" dirty="0">
                <a:effectLst/>
                <a:ea typeface="Times New Roman" panose="02020603050405020304" pitchFamily="18" charset="0"/>
              </a:rPr>
              <a:t>Analysis Techniques: LSTM technique.</a:t>
            </a:r>
            <a:endParaRPr lang="en-IN" sz="2000" dirty="0">
              <a:effectLst/>
              <a:ea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23324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44305-79A4-C34B-F088-3F1CCBD75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549" y="191453"/>
            <a:ext cx="7264033" cy="641972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effectLst/>
                <a:ea typeface="Times New Roman" panose="02020603050405020304" pitchFamily="18" charset="0"/>
              </a:rPr>
              <a:t>Predicting the strongest factors among age, disability, gender, and race for developing anxiety and depressive disorders during different stages of the COVID-19 pandemic?</a:t>
            </a:r>
            <a:endParaRPr lang="en-IN" sz="2000" dirty="0">
              <a:effectLst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u="sng" dirty="0"/>
              <a:t>Random Forest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Performance Metrics:</a:t>
            </a:r>
          </a:p>
          <a:p>
            <a:r>
              <a:rPr lang="en-US" sz="2000" dirty="0"/>
              <a:t>Individual accuracies: 67.69% (Depressive Disorder), 66.10% (Anxiety Disorder).</a:t>
            </a:r>
          </a:p>
          <a:p>
            <a:r>
              <a:rPr lang="en-US" sz="2000" dirty="0"/>
              <a:t>Combined accuracy: 33.79%, lower due to multi-classification </a:t>
            </a:r>
            <a:r>
              <a:rPr lang="en-US" sz="2000" dirty="0" err="1"/>
              <a:t>complexity.High</a:t>
            </a:r>
            <a:r>
              <a:rPr lang="en-US" sz="2000" dirty="0"/>
              <a:t> F1 scores: 0.81 (Depressive Disorder), 0.80 (Anxiety Disorder).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Key Insights:</a:t>
            </a:r>
          </a:p>
          <a:p>
            <a:r>
              <a:rPr lang="en-US" sz="2000" dirty="0"/>
              <a:t>ROC and AUC scores (0.50) show moderate performance, possibly due to similar data distributions.</a:t>
            </a:r>
          </a:p>
          <a:p>
            <a:r>
              <a:rPr lang="en-US" sz="2000" dirty="0"/>
              <a:t>Feature importance analysis highlights Gender as the most influential factor with a score of 0.35.</a:t>
            </a:r>
          </a:p>
          <a:p>
            <a:endParaRPr lang="en-US" sz="2000" dirty="0" err="1"/>
          </a:p>
        </p:txBody>
      </p:sp>
      <p:pic>
        <p:nvPicPr>
          <p:cNvPr id="2" name="Picture 1" descr="A graph of a person's body&#10;&#10;Description automatically generated">
            <a:extLst>
              <a:ext uri="{FF2B5EF4-FFF2-40B4-BE49-F238E27FC236}">
                <a16:creationId xmlns:a16="http://schemas.microsoft.com/office/drawing/2014/main" id="{1D7058A2-B6A5-C1B2-A9BF-F26F86A789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1582" y="236680"/>
            <a:ext cx="2952750" cy="23139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A24515-2494-F099-DB38-F4BA3295807F}"/>
              </a:ext>
            </a:extLst>
          </p:cNvPr>
          <p:cNvSpPr txBox="1"/>
          <p:nvPr/>
        </p:nvSpPr>
        <p:spPr>
          <a:xfrm>
            <a:off x="6674828" y="2550620"/>
            <a:ext cx="6106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1000"/>
              </a:spcAft>
            </a:pPr>
            <a:r>
              <a:rPr lang="en-US" sz="1800" i="1" dirty="0">
                <a:effectLst/>
                <a:ea typeface="Times New Roman" panose="02020603050405020304" pitchFamily="18" charset="0"/>
              </a:rPr>
              <a:t>ROC curve of Depressive Disorder</a:t>
            </a:r>
            <a:endParaRPr lang="en-IN" sz="1800" i="1" dirty="0">
              <a:effectLst/>
              <a:ea typeface="Times New Roman" panose="02020603050405020304" pitchFamily="18" charset="0"/>
            </a:endParaRPr>
          </a:p>
        </p:txBody>
      </p:sp>
      <p:pic>
        <p:nvPicPr>
          <p:cNvPr id="8" name="Picture 7" descr="A graph of a positive and negative rate&#10;&#10;Description automatically generated with medium confidence">
            <a:extLst>
              <a:ext uri="{FF2B5EF4-FFF2-40B4-BE49-F238E27FC236}">
                <a16:creationId xmlns:a16="http://schemas.microsoft.com/office/drawing/2014/main" id="{03DAB12E-F693-FD01-9D2F-31E9D033EF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1582" y="3199523"/>
            <a:ext cx="3147060" cy="24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9AA508-8107-4898-2045-73DBB6ECEA51}"/>
              </a:ext>
            </a:extLst>
          </p:cNvPr>
          <p:cNvSpPr txBox="1"/>
          <p:nvPr/>
        </p:nvSpPr>
        <p:spPr>
          <a:xfrm>
            <a:off x="6771983" y="5705928"/>
            <a:ext cx="6106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1000"/>
              </a:spcAft>
            </a:pP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ROC curve of Anxiety Disorder</a:t>
            </a:r>
            <a:endParaRPr lang="en-IN" sz="1800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277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B3E7D-5CBF-1422-D111-05C0B66E5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150" y="33824"/>
            <a:ext cx="7307995" cy="6138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u="sng" dirty="0"/>
              <a:t>Decision Tree Model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 </a:t>
            </a:r>
            <a:r>
              <a:rPr lang="en-US" sz="2000" b="1" dirty="0"/>
              <a:t>Performance Metrics:</a:t>
            </a:r>
          </a:p>
          <a:p>
            <a:r>
              <a:rPr lang="en-US" sz="2000" dirty="0"/>
              <a:t>Accuracies: 68% (Depressive Disorder), 66% (Anxiety Disorder).</a:t>
            </a:r>
          </a:p>
          <a:p>
            <a:r>
              <a:rPr lang="en-US" sz="2000" dirty="0"/>
              <a:t>High F1 scores: 0.81 (Depressive Disorder), 0.80 (Anxiety Disorder).</a:t>
            </a:r>
          </a:p>
          <a:p>
            <a:r>
              <a:rPr lang="en-US" sz="2000" dirty="0"/>
              <a:t>ROC and AUC scores (0.50) indicate moderate model performance.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 Key Insights:</a:t>
            </a:r>
          </a:p>
          <a:p>
            <a:r>
              <a:rPr lang="en-US" sz="2000" dirty="0"/>
              <a:t>Feature importance analysis shows Gender as the strongest predictor, with a score of 0.37.</a:t>
            </a:r>
          </a:p>
          <a:p>
            <a:r>
              <a:rPr lang="en-US" sz="2000" dirty="0"/>
              <a:t>Decision tree splits start with "Gender," followed by "Race/Ethnicity," "Age," and "Disability Status.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 Conclusion:</a:t>
            </a:r>
          </a:p>
          <a:p>
            <a:r>
              <a:rPr lang="en-US" sz="2000" dirty="0"/>
              <a:t>Gender is the most influential factor in predicting anxiety and depressive disorders, possibly due to differences in immunity between genders during and post-pandemic.</a:t>
            </a:r>
            <a:endParaRPr lang="en-IN" sz="2000" dirty="0"/>
          </a:p>
        </p:txBody>
      </p:sp>
      <p:pic>
        <p:nvPicPr>
          <p:cNvPr id="4" name="Picture 3" descr="A graph of a positive and negative disorder&#10;&#10;Description automatically generated with medium confidence">
            <a:extLst>
              <a:ext uri="{FF2B5EF4-FFF2-40B4-BE49-F238E27FC236}">
                <a16:creationId xmlns:a16="http://schemas.microsoft.com/office/drawing/2014/main" id="{8D8A3A0C-ED5F-C6E1-0F79-82D848D9B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1145" y="105508"/>
            <a:ext cx="2977295" cy="29261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8129AF-CEB6-C554-3A89-25045DE4FA58}"/>
              </a:ext>
            </a:extLst>
          </p:cNvPr>
          <p:cNvSpPr txBox="1"/>
          <p:nvPr/>
        </p:nvSpPr>
        <p:spPr>
          <a:xfrm>
            <a:off x="7772947" y="3049200"/>
            <a:ext cx="61062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1000"/>
              </a:spcAft>
            </a:pPr>
            <a:r>
              <a:rPr lang="en-US" sz="1400" i="1" dirty="0">
                <a:effectLst/>
                <a:ea typeface="Times New Roman" panose="02020603050405020304" pitchFamily="18" charset="0"/>
              </a:rPr>
              <a:t>ROC curve for depressive disorder based on Decision Tree</a:t>
            </a:r>
            <a:endParaRPr lang="en-IN" sz="1400" i="1" dirty="0">
              <a:effectLst/>
              <a:ea typeface="Times New Roman" panose="02020603050405020304" pitchFamily="18" charset="0"/>
            </a:endParaRPr>
          </a:p>
        </p:txBody>
      </p:sp>
      <p:pic>
        <p:nvPicPr>
          <p:cNvPr id="7" name="Picture 6" descr="A graph of a positive and negative disorder&#10;&#10;Description automatically generated with medium confidence">
            <a:extLst>
              <a:ext uri="{FF2B5EF4-FFF2-40B4-BE49-F238E27FC236}">
                <a16:creationId xmlns:a16="http://schemas.microsoft.com/office/drawing/2014/main" id="{C5E18729-A16E-F43D-C175-E2D1BA400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1145" y="3446190"/>
            <a:ext cx="3030160" cy="29261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7EB1C3-2A97-24A9-84DE-32C81026AF4D}"/>
              </a:ext>
            </a:extLst>
          </p:cNvPr>
          <p:cNvSpPr txBox="1"/>
          <p:nvPr/>
        </p:nvSpPr>
        <p:spPr>
          <a:xfrm>
            <a:off x="6331066" y="6400324"/>
            <a:ext cx="6950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1000"/>
              </a:spcAft>
            </a:pPr>
            <a:r>
              <a:rPr lang="en-US" sz="1400" i="1" dirty="0">
                <a:effectLst/>
                <a:ea typeface="Times New Roman" panose="02020603050405020304" pitchFamily="18" charset="0"/>
              </a:rPr>
              <a:t>ROC curve for Anxiety disorder based on Decision Tree</a:t>
            </a:r>
            <a:endParaRPr lang="en-IN" sz="1400" i="1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6986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4DB014E-B76E-B5E9-BB67-F1742EFC12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6744" y="334108"/>
            <a:ext cx="9530162" cy="50878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357D5E-A81E-243A-7D59-A0ACBBB5EDB4}"/>
              </a:ext>
            </a:extLst>
          </p:cNvPr>
          <p:cNvSpPr txBox="1"/>
          <p:nvPr/>
        </p:nvSpPr>
        <p:spPr>
          <a:xfrm>
            <a:off x="2780567" y="5723765"/>
            <a:ext cx="6106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1000"/>
              </a:spcAft>
            </a:pPr>
            <a:r>
              <a:rPr lang="en-US" sz="1800" i="1" dirty="0">
                <a:effectLst/>
                <a:ea typeface="Times New Roman" panose="02020603050405020304" pitchFamily="18" charset="0"/>
              </a:rPr>
              <a:t>Decision Tree</a:t>
            </a:r>
            <a:endParaRPr lang="en-IN" sz="1800" i="1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019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F71DD-B4D8-1A79-6317-71044F368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020" y="1624773"/>
            <a:ext cx="6296880" cy="482878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Random Forest Mode</a:t>
            </a:r>
            <a:r>
              <a:rPr lang="en-US" dirty="0"/>
              <a:t>l </a:t>
            </a:r>
          </a:p>
          <a:p>
            <a:r>
              <a:rPr lang="en-US" dirty="0"/>
              <a:t>The Random Forest model was chosen for its ability to handle classification tasks, as our target variables (Anxiety Disorder and Depressive Disorder) are binary (0/1). The dataset was split into 70% training and 30% testing data.</a:t>
            </a:r>
          </a:p>
          <a:p>
            <a:pPr marL="0" indent="0">
              <a:buNone/>
            </a:pPr>
            <a:r>
              <a:rPr lang="en-US" dirty="0"/>
              <a:t>Accuracy: Depressive Disorder: 67.69%, Anxiety Disorder: 66.10%, Combined: 33.79%.</a:t>
            </a:r>
          </a:p>
          <a:p>
            <a:pPr marL="0" indent="0">
              <a:buNone/>
            </a:pPr>
            <a:r>
              <a:rPr lang="en-US" dirty="0"/>
              <a:t>Lower combined accuracy is expected due to multi-classification complexity but does not indicate poor performance.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8C5D7F-DBCF-0656-174F-52222524B205}"/>
              </a:ext>
            </a:extLst>
          </p:cNvPr>
          <p:cNvSpPr txBox="1"/>
          <p:nvPr/>
        </p:nvSpPr>
        <p:spPr>
          <a:xfrm>
            <a:off x="1141411" y="508825"/>
            <a:ext cx="87059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/>
            <a:r>
              <a:rPr lang="en-US" sz="2400" b="1" dirty="0">
                <a:effectLst/>
                <a:latin typeface="+mj-lt"/>
                <a:ea typeface="Times New Roman" panose="02020603050405020304" pitchFamily="18" charset="0"/>
              </a:rPr>
              <a:t>Predicting the likelihood of anxiety and depressive disorder based on the factors such as season and region.</a:t>
            </a:r>
            <a:endParaRPr lang="en-IN" sz="2400" dirty="0">
              <a:effectLst/>
              <a:latin typeface="+mj-lt"/>
              <a:ea typeface="Times New Roman" panose="02020603050405020304" pitchFamily="18" charset="0"/>
            </a:endParaRP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49C1FF3-C8B7-24DA-5DD1-BECF766C8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321" y="1516478"/>
            <a:ext cx="4048125" cy="10642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2BE0FB-93F3-3EF0-7C63-FB24801E6CAA}"/>
              </a:ext>
            </a:extLst>
          </p:cNvPr>
          <p:cNvSpPr txBox="1"/>
          <p:nvPr/>
        </p:nvSpPr>
        <p:spPr>
          <a:xfrm>
            <a:off x="7823321" y="2672834"/>
            <a:ext cx="6106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 dirty="0">
                <a:effectLst/>
                <a:ea typeface="Times New Roman" panose="02020603050405020304" pitchFamily="18" charset="0"/>
              </a:rPr>
              <a:t>Evaluation Metrics of Random Forest Model</a:t>
            </a:r>
            <a:endParaRPr lang="en-IN" dirty="0"/>
          </a:p>
        </p:txBody>
      </p:sp>
      <p:pic>
        <p:nvPicPr>
          <p:cNvPr id="9" name="Picture 8" descr="A graph of a person's body&#10;&#10;Description automatically generated">
            <a:extLst>
              <a:ext uri="{FF2B5EF4-FFF2-40B4-BE49-F238E27FC236}">
                <a16:creationId xmlns:a16="http://schemas.microsoft.com/office/drawing/2014/main" id="{2BD47FCF-E240-3710-6D15-6E689D08E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321" y="3187016"/>
            <a:ext cx="2952750" cy="23139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6DD8E0F-786D-0D0E-7639-6C979F89741C}"/>
              </a:ext>
            </a:extLst>
          </p:cNvPr>
          <p:cNvSpPr txBox="1"/>
          <p:nvPr/>
        </p:nvSpPr>
        <p:spPr>
          <a:xfrm>
            <a:off x="5813546" y="5601241"/>
            <a:ext cx="6972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1000"/>
              </a:spcAft>
            </a:pPr>
            <a:r>
              <a:rPr lang="en-US" sz="1800" i="1" dirty="0">
                <a:effectLst/>
                <a:ea typeface="Times New Roman" panose="02020603050405020304" pitchFamily="18" charset="0"/>
              </a:rPr>
              <a:t>ROC curve of Depressive Disorder</a:t>
            </a:r>
            <a:endParaRPr lang="en-IN" sz="1800" i="1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071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242B0-D02B-400D-6A1A-C41034B6A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175" y="578948"/>
            <a:ext cx="6358426" cy="5470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Evaluation Metrics:</a:t>
            </a:r>
          </a:p>
          <a:p>
            <a:r>
              <a:rPr lang="en-US" dirty="0"/>
              <a:t>Depressive Disorder: Precision: 0.68, Recall: 1.00, F1-Score: 0.81</a:t>
            </a:r>
          </a:p>
          <a:p>
            <a:r>
              <a:rPr lang="en-US" dirty="0"/>
              <a:t>Anxiety Disorder: Precision: 0.66, Recall: 1.00, F1-Score: 0.80</a:t>
            </a:r>
          </a:p>
          <a:p>
            <a:pPr marL="0" indent="0">
              <a:buNone/>
            </a:pPr>
            <a:r>
              <a:rPr lang="en-US" dirty="0"/>
              <a:t>AUC &amp; ROC: AUC scores of 0.50 for both disorders indicate moderate performance.</a:t>
            </a:r>
          </a:p>
          <a:p>
            <a:pPr marL="0" indent="0">
              <a:buNone/>
            </a:pPr>
            <a:r>
              <a:rPr lang="en-US" b="1" dirty="0"/>
              <a:t>Key Insights: </a:t>
            </a:r>
            <a:r>
              <a:rPr lang="en-US" dirty="0"/>
              <a:t>Feature importance analysis shows that the region significantly influences the likelihood of anxiety and depressive disorders, emphasizing its role in prediction.</a:t>
            </a:r>
            <a:endParaRPr lang="en-IN" dirty="0"/>
          </a:p>
        </p:txBody>
      </p:sp>
      <p:pic>
        <p:nvPicPr>
          <p:cNvPr id="6" name="Picture 5" descr="A graph of a positive and negative rate&#10;&#10;Description automatically generated with medium confidence">
            <a:extLst>
              <a:ext uri="{FF2B5EF4-FFF2-40B4-BE49-F238E27FC236}">
                <a16:creationId xmlns:a16="http://schemas.microsoft.com/office/drawing/2014/main" id="{DFC9E3DC-3E77-9BE5-E142-4054E075E8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9530" y="437051"/>
            <a:ext cx="3147060" cy="24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88036E-B74D-B3D6-07C6-DD73F831708D}"/>
              </a:ext>
            </a:extLst>
          </p:cNvPr>
          <p:cNvSpPr txBox="1"/>
          <p:nvPr/>
        </p:nvSpPr>
        <p:spPr>
          <a:xfrm>
            <a:off x="6189931" y="2971045"/>
            <a:ext cx="6106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1000"/>
              </a:spcAft>
            </a:pPr>
            <a:r>
              <a:rPr lang="en-US" sz="1800" i="1" dirty="0">
                <a:effectLst/>
                <a:ea typeface="Times New Roman" panose="02020603050405020304" pitchFamily="18" charset="0"/>
              </a:rPr>
              <a:t>ROC curve of Anxiety Disorder</a:t>
            </a:r>
            <a:endParaRPr lang="en-IN" sz="1800" i="1" dirty="0">
              <a:effectLst/>
              <a:ea typeface="Times New Roman" panose="02020603050405020304" pitchFamily="18" charset="0"/>
            </a:endParaRPr>
          </a:p>
        </p:txBody>
      </p:sp>
      <p:pic>
        <p:nvPicPr>
          <p:cNvPr id="9" name="Picture 8" descr="A blue bar graph with white text&#10;&#10;Description automatically generated">
            <a:extLst>
              <a:ext uri="{FF2B5EF4-FFF2-40B4-BE49-F238E27FC236}">
                <a16:creationId xmlns:a16="http://schemas.microsoft.com/office/drawing/2014/main" id="{BDC58BF4-775D-5B57-22F2-E163DBC040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9530" y="3350679"/>
            <a:ext cx="3565525" cy="280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F024D41-09A3-E42D-9A7F-2F3A430EFE37}"/>
              </a:ext>
            </a:extLst>
          </p:cNvPr>
          <p:cNvSpPr txBox="1"/>
          <p:nvPr/>
        </p:nvSpPr>
        <p:spPr>
          <a:xfrm>
            <a:off x="7985614" y="6236283"/>
            <a:ext cx="615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Importance Score of  variables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1445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59547-32FA-2710-E247-823DABEF2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475" y="561364"/>
            <a:ext cx="6692534" cy="588339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Decision Tree Model </a:t>
            </a:r>
          </a:p>
          <a:p>
            <a:r>
              <a:rPr lang="en-US" dirty="0"/>
              <a:t>The Decision Tree model was chosen for its simplicity and ability to provide interpretable insights through tree-like structures. The dataset was split into 70% training and 30% testing data.</a:t>
            </a:r>
          </a:p>
          <a:p>
            <a:r>
              <a:rPr lang="en-IN" b="1" dirty="0"/>
              <a:t>Accuracy: </a:t>
            </a:r>
            <a:r>
              <a:rPr lang="en-IN" dirty="0"/>
              <a:t>Depressive Disorder: 68%, Anxiety Disorder: 66%</a:t>
            </a:r>
          </a:p>
          <a:p>
            <a:r>
              <a:rPr lang="en-IN" b="1" dirty="0"/>
              <a:t>Evaluation Metrics:</a:t>
            </a:r>
          </a:p>
          <a:p>
            <a:r>
              <a:rPr lang="en-IN" dirty="0"/>
              <a:t>Depressive Disorder: Precision: 0.68, Recall: 1.00, F1-Score: 0.81</a:t>
            </a:r>
          </a:p>
          <a:p>
            <a:r>
              <a:rPr lang="en-IN" dirty="0"/>
              <a:t>Anxiety Disorder: Precision: 0.66, Recall: 1.00, F1-Score: 0.80</a:t>
            </a:r>
          </a:p>
          <a:p>
            <a:r>
              <a:rPr lang="en-IN" dirty="0"/>
              <a:t>AUC &amp; ROC: AUC scores of 0.50 for both disorders indicate moderate performance</a:t>
            </a:r>
          </a:p>
        </p:txBody>
      </p:sp>
      <p:pic>
        <p:nvPicPr>
          <p:cNvPr id="6" name="Picture 5" descr="A graph of a positive and negative disorder&#10;&#10;Description automatically generated with medium confidence">
            <a:extLst>
              <a:ext uri="{FF2B5EF4-FFF2-40B4-BE49-F238E27FC236}">
                <a16:creationId xmlns:a16="http://schemas.microsoft.com/office/drawing/2014/main" id="{98E2F39B-86E0-AE04-CE4C-B4AC87208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9075" y="516314"/>
            <a:ext cx="3768848" cy="37043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182CD2-B67F-EA13-C1CC-0A031F11ADD5}"/>
              </a:ext>
            </a:extLst>
          </p:cNvPr>
          <p:cNvSpPr txBox="1"/>
          <p:nvPr/>
        </p:nvSpPr>
        <p:spPr>
          <a:xfrm>
            <a:off x="7176720" y="4341150"/>
            <a:ext cx="61062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kern="0" dirty="0">
                <a:effectLst/>
                <a:ea typeface="Times New Roman" panose="02020603050405020304" pitchFamily="18" charset="0"/>
              </a:rPr>
              <a:t>ROC curve for depressive disorder based on Decision Tree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638041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BFBA4-44FE-9462-7FE7-AFC3DB58A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173" y="587739"/>
            <a:ext cx="5479195" cy="590098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Key Insights:</a:t>
            </a:r>
          </a:p>
          <a:p>
            <a:r>
              <a:rPr lang="en-US" dirty="0"/>
              <a:t>Region is the most significant factor influencing anxiety and depressive disorders, with a high importance score of 0.8.</a:t>
            </a:r>
          </a:p>
          <a:p>
            <a:r>
              <a:rPr lang="en-US" dirty="0"/>
              <a:t>Visualized tree splits show "Season" as the first factor, followed by features like race/ethnicity, age, and disability status.</a:t>
            </a:r>
          </a:p>
          <a:p>
            <a:r>
              <a:rPr lang="en-US" dirty="0"/>
              <a:t>Regional differences in eating habits, lifestyle, and weather likely contribute to variations in disorder likelihood.</a:t>
            </a:r>
          </a:p>
          <a:p>
            <a:pPr marL="0" indent="0">
              <a:buNone/>
            </a:pPr>
            <a:r>
              <a:rPr lang="en-US" dirty="0"/>
              <a:t>Overall, the region is a stronger predictor than the season for </a:t>
            </a:r>
            <a:r>
              <a:rPr lang="en-US" dirty="0" err="1"/>
              <a:t>thes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EF92CD-B288-5401-FC5C-ADF69D1340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75" y="3910964"/>
            <a:ext cx="2838450" cy="223647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E214E6-A39F-71B9-1A14-45E33C079545}"/>
              </a:ext>
            </a:extLst>
          </p:cNvPr>
          <p:cNvSpPr txBox="1"/>
          <p:nvPr/>
        </p:nvSpPr>
        <p:spPr>
          <a:xfrm>
            <a:off x="6693144" y="6251300"/>
            <a:ext cx="6106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 dirty="0">
                <a:effectLst/>
                <a:ea typeface="Times New Roman" panose="02020603050405020304" pitchFamily="18" charset="0"/>
              </a:rPr>
              <a:t>Importance score of variables</a:t>
            </a:r>
            <a:endParaRPr lang="en-IN" dirty="0"/>
          </a:p>
        </p:txBody>
      </p:sp>
      <p:pic>
        <p:nvPicPr>
          <p:cNvPr id="7" name="Picture 6" descr="A graph of a positive and negative disorder&#10;&#10;Description automatically generated with medium confidence">
            <a:extLst>
              <a:ext uri="{FF2B5EF4-FFF2-40B4-BE49-F238E27FC236}">
                <a16:creationId xmlns:a16="http://schemas.microsoft.com/office/drawing/2014/main" id="{4B0F47E8-0BC6-4E77-2534-042E0389F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992" y="164953"/>
            <a:ext cx="3187944" cy="30789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E44E86-18BD-27FC-C26D-7D21E8292EFD}"/>
              </a:ext>
            </a:extLst>
          </p:cNvPr>
          <p:cNvSpPr txBox="1"/>
          <p:nvPr/>
        </p:nvSpPr>
        <p:spPr>
          <a:xfrm>
            <a:off x="5713168" y="3253100"/>
            <a:ext cx="6409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1000"/>
              </a:spcAft>
            </a:pPr>
            <a:r>
              <a:rPr lang="en-US" sz="1800" i="1" dirty="0">
                <a:effectLst/>
                <a:ea typeface="Times New Roman" panose="02020603050405020304" pitchFamily="18" charset="0"/>
              </a:rPr>
              <a:t>ROC curve for Anxiety disorder based on Decision Tree</a:t>
            </a:r>
            <a:endParaRPr lang="en-IN" sz="1800" i="1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999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9E7C1-3159-A404-3E39-48A6D703B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FBE43A-6DFC-B679-4447-5DE0ED2CC7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56" y="359446"/>
            <a:ext cx="11626287" cy="584792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F77BA6-D424-EBB9-D928-EA94FC4D405C}"/>
              </a:ext>
            </a:extLst>
          </p:cNvPr>
          <p:cNvSpPr txBox="1"/>
          <p:nvPr/>
        </p:nvSpPr>
        <p:spPr>
          <a:xfrm>
            <a:off x="5690821" y="6313888"/>
            <a:ext cx="6106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Decision Tree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3333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C8751-B02F-CE0E-74B9-0502643C0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808" y="955672"/>
            <a:ext cx="5417650" cy="570755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LSTM Neural Network Model :</a:t>
            </a:r>
          </a:p>
          <a:p>
            <a:pPr marL="0" indent="0">
              <a:buNone/>
            </a:pPr>
            <a:r>
              <a:rPr lang="en-US" dirty="0"/>
              <a:t>We used the LSTM model to predict future trends of anxiety and depressive disorders in people aged 50 and above.</a:t>
            </a:r>
          </a:p>
          <a:p>
            <a:pPr marL="0" indent="0">
              <a:buNone/>
            </a:pPr>
            <a:r>
              <a:rPr lang="en-US" dirty="0"/>
              <a:t>Data Preparation:</a:t>
            </a:r>
          </a:p>
          <a:p>
            <a:r>
              <a:rPr lang="en-US" dirty="0"/>
              <a:t>Filtered the dataset for age groups ≥ 50 years.</a:t>
            </a:r>
          </a:p>
          <a:p>
            <a:r>
              <a:rPr lang="en-US" dirty="0"/>
              <a:t>Normalized the target variable (‘Value’) using </a:t>
            </a:r>
            <a:r>
              <a:rPr lang="en-US" dirty="0" err="1"/>
              <a:t>MinMax</a:t>
            </a:r>
            <a:r>
              <a:rPr lang="en-US" dirty="0"/>
              <a:t> Scaler.</a:t>
            </a:r>
          </a:p>
          <a:p>
            <a:r>
              <a:rPr lang="en-US" dirty="0"/>
              <a:t>Set the input sequence to 12 (12 data points to predict the next point) and number of features to 1.</a:t>
            </a:r>
          </a:p>
          <a:p>
            <a:r>
              <a:rPr lang="en-US" dirty="0"/>
              <a:t>Split the data into 70% training and 30% testing.</a:t>
            </a:r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DD2506-4C90-6612-2635-A63085A2B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336" y="-190376"/>
            <a:ext cx="10095156" cy="1632313"/>
          </a:xfrm>
        </p:spPr>
        <p:txBody>
          <a:bodyPr/>
          <a:lstStyle/>
          <a:p>
            <a:r>
              <a:rPr lang="en-US" sz="1800" b="1" dirty="0">
                <a:effectLst/>
                <a:latin typeface="+mn-lt"/>
                <a:ea typeface="Times New Roman" panose="02020603050405020304" pitchFamily="18" charset="0"/>
              </a:rPr>
              <a:t>Predicting the future trends of anxiety and depression disorder among people who are over the age of 50 years in the United States using time-series forecasting model.</a:t>
            </a:r>
            <a:endParaRPr lang="en-IN" dirty="0">
              <a:latin typeface="+mn-lt"/>
            </a:endParaRP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9B801D1A-F475-3A6B-B926-460078A2E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9458" y="978151"/>
            <a:ext cx="5591175" cy="26441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4FF842-AA65-A486-D2F5-752D7E5D1D58}"/>
              </a:ext>
            </a:extLst>
          </p:cNvPr>
          <p:cNvSpPr txBox="1"/>
          <p:nvPr/>
        </p:nvSpPr>
        <p:spPr>
          <a:xfrm>
            <a:off x="6141917" y="3683248"/>
            <a:ext cx="6106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1000"/>
              </a:spcAft>
            </a:pPr>
            <a:r>
              <a:rPr lang="en-US" sz="1800" i="1" dirty="0">
                <a:effectLst/>
                <a:ea typeface="Times New Roman" panose="02020603050405020304" pitchFamily="18" charset="0"/>
              </a:rPr>
              <a:t>Example dataset after filtering Subgroup to age &gt;= 50</a:t>
            </a:r>
            <a:endParaRPr lang="en-IN" sz="1800" i="1" dirty="0">
              <a:effectLst/>
              <a:ea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606AD8-7B15-4CB4-8246-FFCE9742B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458" y="4460647"/>
            <a:ext cx="5695950" cy="5981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9EF6C12-B518-2DB3-9912-37BD6464A807}"/>
              </a:ext>
            </a:extLst>
          </p:cNvPr>
          <p:cNvSpPr txBox="1"/>
          <p:nvPr/>
        </p:nvSpPr>
        <p:spPr>
          <a:xfrm>
            <a:off x="5857999" y="5224977"/>
            <a:ext cx="6132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1000"/>
              </a:spcAft>
            </a:pPr>
            <a:r>
              <a:rPr lang="en-US" sz="1800" i="1" dirty="0">
                <a:effectLst/>
                <a:ea typeface="Times New Roman" panose="02020603050405020304" pitchFamily="18" charset="0"/>
              </a:rPr>
              <a:t>Python Code to build LSTM model.</a:t>
            </a:r>
            <a:endParaRPr lang="en-IN" sz="1800" i="1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1968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C51EA-2814-36A8-8DED-34554D692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775" y="6104"/>
            <a:ext cx="4116388" cy="56108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Model Structure:</a:t>
            </a:r>
          </a:p>
          <a:p>
            <a:r>
              <a:rPr lang="en-US" sz="2000" dirty="0"/>
              <a:t>Built using 2 LSTM layers (100 and 50 neurons) and 1 dense layer.</a:t>
            </a:r>
          </a:p>
          <a:p>
            <a:r>
              <a:rPr lang="en-US" sz="2000" dirty="0"/>
              <a:t>Trained for 20 epochs.</a:t>
            </a:r>
          </a:p>
          <a:p>
            <a:pPr marL="0" indent="0">
              <a:buNone/>
            </a:pPr>
            <a:r>
              <a:rPr lang="en-US" sz="2000" b="1" dirty="0"/>
              <a:t>Results:</a:t>
            </a:r>
          </a:p>
          <a:p>
            <a:r>
              <a:rPr lang="en-US" sz="2000" dirty="0"/>
              <a:t>The predicted and actual values align closely, indicating good model performance.</a:t>
            </a:r>
          </a:p>
          <a:p>
            <a:r>
              <a:rPr lang="en-US" sz="2000" dirty="0"/>
              <a:t>Forecast for the next 15 days shows a gradual increase in disorder indicators, with the highest predicted value of 16.5 on 2024/02/15.</a:t>
            </a:r>
          </a:p>
          <a:p>
            <a:pPr marL="0" indent="0">
              <a:buNone/>
            </a:pPr>
            <a:r>
              <a:rPr lang="en-US" sz="2000" b="1" dirty="0"/>
              <a:t>Key Insight: </a:t>
            </a:r>
            <a:r>
              <a:rPr lang="en-US" sz="2000" dirty="0"/>
              <a:t>The LSTM model effectively forecasted future trends of anxiety and depression disorders in the target age group.</a:t>
            </a:r>
            <a:endParaRPr lang="en-IN" sz="2000" dirty="0"/>
          </a:p>
        </p:txBody>
      </p:sp>
      <p:pic>
        <p:nvPicPr>
          <p:cNvPr id="4" name="Picture 3" descr="A graph showing a graph of blue and orange lines&#10;&#10;Description automatically generated">
            <a:extLst>
              <a:ext uri="{FF2B5EF4-FFF2-40B4-BE49-F238E27FC236}">
                <a16:creationId xmlns:a16="http://schemas.microsoft.com/office/drawing/2014/main" id="{7D20394B-4FD0-2EF6-4BC2-A6AF19B14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432" y="568812"/>
            <a:ext cx="6828028" cy="37306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C03DFB-AB56-023E-B6ED-80B3F5524F91}"/>
              </a:ext>
            </a:extLst>
          </p:cNvPr>
          <p:cNvSpPr txBox="1"/>
          <p:nvPr/>
        </p:nvSpPr>
        <p:spPr>
          <a:xfrm>
            <a:off x="6728314" y="4466465"/>
            <a:ext cx="6106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 dirty="0">
                <a:effectLst/>
                <a:ea typeface="Times New Roman" panose="02020603050405020304" pitchFamily="18" charset="0"/>
              </a:rPr>
              <a:t>Forecast vs Actuals Values Comparison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64820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red lines&#10;&#10;Description automatically generated">
            <a:extLst>
              <a:ext uri="{FF2B5EF4-FFF2-40B4-BE49-F238E27FC236}">
                <a16:creationId xmlns:a16="http://schemas.microsoft.com/office/drawing/2014/main" id="{871F3A5D-88BA-F521-83E5-201385255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086" y="152752"/>
            <a:ext cx="8721968" cy="552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63B009-145C-1E0A-BFC9-21A3BBFBB9A9}"/>
              </a:ext>
            </a:extLst>
          </p:cNvPr>
          <p:cNvSpPr txBox="1"/>
          <p:nvPr/>
        </p:nvSpPr>
        <p:spPr>
          <a:xfrm>
            <a:off x="3545498" y="5829273"/>
            <a:ext cx="6106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kern="0" dirty="0">
                <a:effectLst/>
                <a:ea typeface="Times New Roman" panose="02020603050405020304" pitchFamily="18" charset="0"/>
              </a:rPr>
              <a:t>Value for Future 15 days value of the indicators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87737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05AB4-6149-FACE-B785-D20F81692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6285" y="0"/>
            <a:ext cx="10761783" cy="789549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Results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Exploratory Data Analysis (EDA)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Visual Insights: Line charts effectively show trends, seasonality, and patterns, while bar charts excel at comparisons across groups.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Key Findings: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Younger age groups (18-29) have higher chances of anxiety and depression, with prevalence decreasing as age increases.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From 2020-2024, anxiety and depressive disorder symptoms peaked in 2022 due to COVID-19, with a decline in recent years.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Disorder prevalence by state shows Louisiana as the highest and Colorado as the lowest, with clear visualization through heatmap-based bar charts.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Predictive Analysis: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Question 1: Random Forest and Decision Tree models achieved 68% accuracy, highlighting the influence of factors like age, gender, disability, and race on disorders.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Question 2: Both models worked well for categorical and numerical data, with Random Forest performing slightly better in accuracy, while Decision Tree offered more patterns and insights.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Question 3: Future trends of disorders in age groups ≥50 were accurately forecasted using LSTM, revealing an upward trend with precise pattern identification.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Conclusion: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The combination of visualizations, models, and algorithms provided actionable insights into anxiety and depression trends, offering valuable perspectives for real-world scenarios.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947630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5C8CD-C1AE-254E-AC28-17AB2C1B8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 b="1" dirty="0"/>
              <a:t>                   Thank you</a:t>
            </a:r>
            <a:br>
              <a:rPr lang="en-US" sz="5400" dirty="0"/>
            </a:br>
            <a:endParaRPr lang="en-US" sz="54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95A9B5C-A95A-6D42-BB4B-F4847819CB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8750" y="2200275"/>
            <a:ext cx="9618661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5025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3210</TotalTime>
  <Words>1821</Words>
  <Application>Microsoft Office PowerPoint</Application>
  <PresentationFormat>Widescreen</PresentationFormat>
  <Paragraphs>167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Times New Roman</vt:lpstr>
      <vt:lpstr>Tw Cen MT</vt:lpstr>
      <vt:lpstr>Wingdings</vt:lpstr>
      <vt:lpstr>Circuit</vt:lpstr>
      <vt:lpstr>Using Data Analytics to Predict Mental Health Impacts During Pandemics </vt:lpstr>
      <vt:lpstr>Project Overview</vt:lpstr>
      <vt:lpstr>Motivation</vt:lpstr>
      <vt:lpstr>Objectives</vt:lpstr>
      <vt:lpstr>METHODOLOGY </vt:lpstr>
      <vt:lpstr>Data Collection</vt:lpstr>
      <vt:lpstr>Data Preparation</vt:lpstr>
      <vt:lpstr>Outlier Detection</vt:lpstr>
      <vt:lpstr>Analysis Techniques</vt:lpstr>
      <vt:lpstr>Exploratory Data Analysis</vt:lpstr>
      <vt:lpstr>Data  Visualization    </vt:lpstr>
      <vt:lpstr>PowerPoint Presentation</vt:lpstr>
      <vt:lpstr>PowerPoint Presentation</vt:lpstr>
      <vt:lpstr>Analysis Techniques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Predicting the future trends of anxiety and depression disorder among people who are over the age of 50 years in the United States using time-series forecasting model.</vt:lpstr>
      <vt:lpstr>PowerPoint Presentation</vt:lpstr>
      <vt:lpstr>PowerPoint Presentation</vt:lpstr>
      <vt:lpstr>PowerPoint Presentation</vt:lpstr>
      <vt:lpstr>                   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health challenges due to covid-19 pandemic</dc:title>
  <dc:creator>Microsoft Office User</dc:creator>
  <cp:lastModifiedBy>sudheer sud</cp:lastModifiedBy>
  <cp:revision>26</cp:revision>
  <dcterms:created xsi:type="dcterms:W3CDTF">2021-08-21T14:38:53Z</dcterms:created>
  <dcterms:modified xsi:type="dcterms:W3CDTF">2024-12-13T14:43:15Z</dcterms:modified>
</cp:coreProperties>
</file>